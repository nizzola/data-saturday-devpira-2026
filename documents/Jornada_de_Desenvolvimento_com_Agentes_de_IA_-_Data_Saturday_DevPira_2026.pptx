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347" r:id="rId3"/>
    <p:sldId id="348" r:id="rId4"/>
    <p:sldId id="1828" r:id="rId5"/>
    <p:sldId id="257" r:id="rId6"/>
    <p:sldId id="258" r:id="rId7"/>
    <p:sldId id="1827" r:id="rId8"/>
    <p:sldId id="1830" r:id="rId9"/>
    <p:sldId id="1826" r:id="rId10"/>
    <p:sldId id="1829" r:id="rId11"/>
    <p:sldId id="1820" r:id="rId12"/>
    <p:sldId id="1821" r:id="rId13"/>
    <p:sldId id="1822" r:id="rId14"/>
    <p:sldId id="1823" r:id="rId15"/>
    <p:sldId id="1824" r:id="rId16"/>
    <p:sldId id="1825" r:id="rId17"/>
    <p:sldId id="265" r:id="rId18"/>
    <p:sldId id="269" r:id="rId19"/>
    <p:sldId id="1814" r:id="rId20"/>
    <p:sldId id="259" r:id="rId21"/>
    <p:sldId id="260" r:id="rId22"/>
    <p:sldId id="261" r:id="rId23"/>
    <p:sldId id="262" r:id="rId24"/>
    <p:sldId id="263" r:id="rId25"/>
    <p:sldId id="264" r:id="rId26"/>
    <p:sldId id="1831" r:id="rId27"/>
    <p:sldId id="267" r:id="rId28"/>
    <p:sldId id="1832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138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90B11-12D6-0378-895F-7B8F89533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F8344-8942-A770-280C-EEB954AA6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7AC101-9BBB-B07A-47CB-22E9BE6FF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51A55-A0AD-FDEF-FAF5-7B3A7651E4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2965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60D6C-A519-1ED9-BFC4-5E85BAE9D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B6E49-F537-ED7A-7E8B-B7033C132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0F87F-F994-6611-DB60-4E151C7DE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F35A1-711D-5B58-C464-414B312ABD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3283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DA0B8-36FC-D062-D180-8FDED8F76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4EAA93-EAA2-CDF5-E6DD-9451DED5A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175BF-6ADE-12E9-D8E7-9F6720A67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2F780-11AE-3E3A-8BCA-1E1D8E94B1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298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99095-0F4C-5ED4-B6F0-5CF55F1EF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B8DE9-6B9B-F08C-DF66-99F8D5E8B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93563-66B0-968F-4D9B-EEE720BDC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FF56F-CEBD-CB07-DBEB-9CA21E4C3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4477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01929" y="891882"/>
            <a:ext cx="8740142" cy="148923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471"/>
            </a:lvl2pPr>
            <a:lvl3pPr marL="168090" indent="0">
              <a:buNone/>
              <a:defRPr/>
            </a:lvl3pPr>
            <a:lvl4pPr marL="336179" indent="0">
              <a:buNone/>
              <a:defRPr/>
            </a:lvl4pPr>
            <a:lvl5pPr marL="504269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783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7.jpe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rtal.azure.co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jpe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234315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DEVPIRA DATA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609755" y="285750"/>
            <a:ext cx="210562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2450" b="1" kern="0" spc="-2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SATURDAYS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609755" y="703659"/>
            <a:ext cx="210562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A4E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23/05/2026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416165"/>
            <a:ext cx="5715000" cy="226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MULTI AGENTES E
WORKFLOWS NO
MICROSOFT AGENT FRAMEWORK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571500" y="4250782"/>
            <a:ext cx="2450306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MARCIO NIZZOLA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71500" y="4563321"/>
            <a:ext cx="24503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A4E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Microsoft MVP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1500" y="4791921"/>
            <a:ext cx="1632347" cy="192881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7"/>
          <p:cNvSpPr/>
          <p:nvPr/>
        </p:nvSpPr>
        <p:spPr>
          <a:xfrm>
            <a:off x="571500" y="4791921"/>
            <a:ext cx="1632347" cy="192881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Most Valuable Professional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450431" y="4250782"/>
            <a:ext cx="2386013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CARLOS MACHEL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450431" y="4563321"/>
            <a:ext cx="23860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A4E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Microsoft MVP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50431" y="4791921"/>
            <a:ext cx="1632347" cy="192881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Text 11"/>
          <p:cNvSpPr/>
          <p:nvPr/>
        </p:nvSpPr>
        <p:spPr>
          <a:xfrm>
            <a:off x="3450431" y="4791921"/>
            <a:ext cx="1632347" cy="192881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Most Valuable Professional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DA63126-46E7-792A-B3DA-326401771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10368" cy="5180832"/>
          </a:xfrm>
          <a:prstGeom prst="rect">
            <a:avLst/>
          </a:prstGeom>
        </p:spPr>
      </p:pic>
      <p:sp>
        <p:nvSpPr>
          <p:cNvPr id="7" name="Pgina 02"/>
          <p:cNvSpPr/>
          <p:nvPr/>
        </p:nvSpPr>
        <p:spPr>
          <a:xfrm>
            <a:off x="381000" y="4591050"/>
            <a:ext cx="651934" cy="242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>
              <a:lnSpc>
                <a:spcPct val="125000"/>
              </a:lnSpc>
            </a:pPr>
            <a:r>
              <a:rPr lang="en-US" sz="9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Página 04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wwwmvpconfcombr"/>
          <p:cNvSpPr/>
          <p:nvPr/>
        </p:nvSpPr>
        <p:spPr>
          <a:xfrm>
            <a:off x="7247071" y="4269151"/>
            <a:ext cx="12673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>
              <a:lnSpc>
                <a:spcPct val="125000"/>
              </a:lnSpc>
            </a:pPr>
            <a:r>
              <a:rPr lang="en-US" sz="1050" dirty="0">
                <a:solidFill>
                  <a:schemeClr val="bg1"/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www.nizzola.com.br</a:t>
            </a:r>
            <a:endParaRPr lang="en-US" sz="105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0" name="Pessoas em Primeiro Lugar"/>
          <p:cNvSpPr/>
          <p:nvPr/>
        </p:nvSpPr>
        <p:spPr>
          <a:xfrm>
            <a:off x="275931" y="698477"/>
            <a:ext cx="2300609" cy="1321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85835"/>
            <a:r>
              <a:rPr lang="pt-BR" sz="4400" dirty="0">
                <a:solidFill>
                  <a:schemeClr val="bg1"/>
                </a:solidFill>
                <a:latin typeface="Aptos Display" panose="02110004020202020204"/>
              </a:rPr>
              <a:t>Márcio R. Nizzola</a:t>
            </a:r>
          </a:p>
        </p:txBody>
      </p:sp>
      <p:sp>
        <p:nvSpPr>
          <p:cNvPr id="11" name="Tecnologia  o meio Pessoas so o fim"/>
          <p:cNvSpPr/>
          <p:nvPr/>
        </p:nvSpPr>
        <p:spPr>
          <a:xfrm>
            <a:off x="381000" y="2718631"/>
            <a:ext cx="31337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35">
              <a:spcBef>
                <a:spcPts val="750"/>
              </a:spcBef>
            </a:pPr>
            <a:r>
              <a:rPr lang="pt-BR" sz="1400" dirty="0">
                <a:solidFill>
                  <a:schemeClr val="bg1"/>
                </a:solidFill>
                <a:latin typeface="Aptos" panose="02110004020202020204"/>
              </a:rPr>
              <a:t>www.linkedin.com/in/nizzola</a:t>
            </a:r>
          </a:p>
          <a:p>
            <a:pPr defTabSz="685835">
              <a:spcBef>
                <a:spcPts val="750"/>
              </a:spcBef>
            </a:pPr>
            <a:r>
              <a:rPr lang="pt-BR" sz="1400" dirty="0">
                <a:solidFill>
                  <a:schemeClr val="bg1"/>
                </a:solidFill>
                <a:latin typeface="Aptos" panose="02110004020202020204"/>
              </a:rPr>
              <a:t>marcionizzola.medium.com</a:t>
            </a:r>
          </a:p>
          <a:p>
            <a:pPr defTabSz="685835">
              <a:spcBef>
                <a:spcPts val="750"/>
              </a:spcBef>
            </a:pPr>
            <a:r>
              <a:rPr lang="pt-BR" sz="1400" dirty="0">
                <a:solidFill>
                  <a:schemeClr val="bg1"/>
                </a:solidFill>
                <a:latin typeface="Aptos" panose="02110004020202020204"/>
              </a:rPr>
              <a:t>https://linktree.com/nizzola</a:t>
            </a:r>
          </a:p>
          <a:p>
            <a:pPr defTabSz="685835">
              <a:spcBef>
                <a:spcPts val="750"/>
              </a:spcBef>
            </a:pPr>
            <a:r>
              <a:rPr lang="pt-BR" sz="1400" dirty="0">
                <a:solidFill>
                  <a:schemeClr val="bg1"/>
                </a:solidFill>
                <a:latin typeface="Aptos" panose="02110004020202020204"/>
              </a:rPr>
              <a:t>@nizzola.dev</a:t>
            </a:r>
          </a:p>
          <a:p>
            <a:pPr defTabSz="457223">
              <a:lnSpc>
                <a:spcPct val="125000"/>
              </a:lnSpc>
              <a:spcAft>
                <a:spcPts val="1178"/>
              </a:spcAft>
            </a:pPr>
            <a:endParaRPr lang="en-US" sz="1276" dirty="0">
              <a:solidFill>
                <a:prstClr val="black"/>
              </a:solidFill>
              <a:latin typeface="Maven Pro Medium" pitchFamily="2" charset="77"/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ACD0BD06-0A10-1692-DA81-5A72742F6ECF}"/>
              </a:ext>
            </a:extLst>
          </p:cNvPr>
          <p:cNvSpPr txBox="1">
            <a:spLocks/>
          </p:cNvSpPr>
          <p:nvPr/>
        </p:nvSpPr>
        <p:spPr>
          <a:xfrm>
            <a:off x="2819467" y="1051976"/>
            <a:ext cx="3786029" cy="30861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35">
              <a:buNone/>
            </a:pP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4x MVP Microsoft  -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Developers</a:t>
            </a: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 Technologies</a:t>
            </a:r>
          </a:p>
          <a:p>
            <a:pPr marL="0" indent="0" defTabSz="685835">
              <a:buNone/>
            </a:pP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Principal Architect na CI&amp;T</a:t>
            </a:r>
          </a:p>
          <a:p>
            <a:pPr marL="0" indent="0" defTabSz="685835">
              <a:buNone/>
            </a:pP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Professor na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Etec</a:t>
            </a: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 de Itu</a:t>
            </a:r>
          </a:p>
          <a:p>
            <a:pPr marL="0" indent="0" defTabSz="685835">
              <a:buNone/>
            </a:pP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Fundador do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Meetup</a:t>
            </a: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 Itu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Developers</a:t>
            </a:r>
            <a:endParaRPr lang="pt-BR" sz="1650" dirty="0">
              <a:solidFill>
                <a:schemeClr val="bg1"/>
              </a:solidFill>
              <a:latin typeface="Aptos" panose="02110004020202020204"/>
            </a:endParaRPr>
          </a:p>
          <a:p>
            <a:pPr marL="0" indent="0" defTabSz="685835">
              <a:buNone/>
            </a:pPr>
            <a:endParaRPr lang="pt-BR" sz="1650" dirty="0">
              <a:solidFill>
                <a:schemeClr val="bg1"/>
              </a:solidFill>
              <a:latin typeface="Aptos" panose="02110004020202020204"/>
            </a:endParaRPr>
          </a:p>
          <a:p>
            <a:pPr marL="0" indent="0" defTabSz="685835">
              <a:buNone/>
            </a:pP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Estudando programação a partir de 1989</a:t>
            </a:r>
          </a:p>
          <a:p>
            <a:pPr marL="0" indent="0" defTabSz="685835">
              <a:buNone/>
            </a:pP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Vivendo de software desde 1992</a:t>
            </a:r>
          </a:p>
          <a:p>
            <a:pPr marL="0" indent="0" defTabSz="685835">
              <a:buNone/>
            </a:pPr>
            <a:endParaRPr lang="pt-BR" sz="1650" dirty="0">
              <a:solidFill>
                <a:schemeClr val="bg1"/>
              </a:solidFill>
              <a:latin typeface="Aptos" panose="02110004020202020204"/>
            </a:endParaRPr>
          </a:p>
          <a:p>
            <a:pPr marL="0" indent="0" defTabSz="685835">
              <a:buNone/>
            </a:pP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Principais tecnologias: C#, Python,  IA, Javascript, Angular,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React</a:t>
            </a: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, Azure,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Aws</a:t>
            </a: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,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Php</a:t>
            </a: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,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Vb</a:t>
            </a:r>
            <a:endParaRPr lang="pt-BR" sz="1650" dirty="0">
              <a:solidFill>
                <a:schemeClr val="bg1"/>
              </a:solidFill>
              <a:latin typeface="Aptos" panose="02110004020202020204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8F7F47-6D5E-F6BB-1FBA-E5D1CD2BB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460" y="1051100"/>
            <a:ext cx="2300609" cy="3193702"/>
          </a:xfrm>
          <a:prstGeom prst="rect">
            <a:avLst/>
          </a:prstGeom>
        </p:spPr>
      </p:pic>
      <p:pic>
        <p:nvPicPr>
          <p:cNvPr id="13" name="Picture 8" descr="Microsoft MVP Logo - LogoDix">
            <a:extLst>
              <a:ext uri="{FF2B5EF4-FFF2-40B4-BE49-F238E27FC236}">
                <a16:creationId xmlns:a16="http://schemas.microsoft.com/office/drawing/2014/main" id="{3B37EDC9-7208-9481-EA02-5EBFE53F8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931" y="3930212"/>
            <a:ext cx="2300609" cy="1051911"/>
          </a:xfrm>
          <a:prstGeom prst="rect">
            <a:avLst/>
          </a:prstGeom>
        </p:spPr>
      </p:pic>
      <p:pic>
        <p:nvPicPr>
          <p:cNvPr id="1026" name="Picture 2" descr="CI&amp;T | Technology Transformation Specialists">
            <a:extLst>
              <a:ext uri="{FF2B5EF4-FFF2-40B4-BE49-F238E27FC236}">
                <a16:creationId xmlns:a16="http://schemas.microsoft.com/office/drawing/2014/main" id="{42D709F6-AD11-04AA-A681-273B465BF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976" y="4460081"/>
            <a:ext cx="1351350" cy="43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40DC141-F8BE-2437-0FCD-8569A2A853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1" y="4414517"/>
            <a:ext cx="1653881" cy="4789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DA63126-46E7-792A-B3DA-326401771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10368" cy="5180832"/>
          </a:xfrm>
          <a:prstGeom prst="rect">
            <a:avLst/>
          </a:prstGeom>
        </p:spPr>
      </p:pic>
      <p:sp>
        <p:nvSpPr>
          <p:cNvPr id="7" name="Pgina 02"/>
          <p:cNvSpPr/>
          <p:nvPr/>
        </p:nvSpPr>
        <p:spPr>
          <a:xfrm>
            <a:off x="381000" y="4591050"/>
            <a:ext cx="651934" cy="242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>
              <a:lnSpc>
                <a:spcPct val="125000"/>
              </a:lnSpc>
            </a:pPr>
            <a:r>
              <a:rPr lang="en-US" sz="9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Página 04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Pessoas em Primeiro Lugar"/>
          <p:cNvSpPr/>
          <p:nvPr/>
        </p:nvSpPr>
        <p:spPr>
          <a:xfrm>
            <a:off x="5288068" y="338057"/>
            <a:ext cx="3922300" cy="683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85835"/>
            <a:r>
              <a:rPr lang="pt-BR" sz="4400" dirty="0">
                <a:solidFill>
                  <a:schemeClr val="bg1"/>
                </a:solidFill>
                <a:latin typeface="Aptos Display" panose="02110004020202020204"/>
              </a:rPr>
              <a:t>Carlos Machel</a:t>
            </a:r>
          </a:p>
        </p:txBody>
      </p:sp>
      <p:pic>
        <p:nvPicPr>
          <p:cNvPr id="13" name="Picture 8" descr="Microsoft MVP Logo - LogoDix">
            <a:extLst>
              <a:ext uri="{FF2B5EF4-FFF2-40B4-BE49-F238E27FC236}">
                <a16:creationId xmlns:a16="http://schemas.microsoft.com/office/drawing/2014/main" id="{3B37EDC9-7208-9481-EA02-5EBFE53F8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931" y="3930212"/>
            <a:ext cx="2300609" cy="10519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21606-450D-5B35-A87E-BB719B6AA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32193A0-2D35-4FD9-725A-5F31D60CC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10368" cy="5180832"/>
          </a:xfrm>
          <a:prstGeom prst="rect">
            <a:avLst/>
          </a:prstGeom>
        </p:spPr>
      </p:pic>
      <p:sp>
        <p:nvSpPr>
          <p:cNvPr id="7" name="Pgina 02">
            <a:extLst>
              <a:ext uri="{FF2B5EF4-FFF2-40B4-BE49-F238E27FC236}">
                <a16:creationId xmlns:a16="http://schemas.microsoft.com/office/drawing/2014/main" id="{F7DCEE18-4C65-07B5-C1AA-26A9F992F6EB}"/>
              </a:ext>
            </a:extLst>
          </p:cNvPr>
          <p:cNvSpPr/>
          <p:nvPr/>
        </p:nvSpPr>
        <p:spPr>
          <a:xfrm>
            <a:off x="381000" y="4591050"/>
            <a:ext cx="651934" cy="242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>
              <a:lnSpc>
                <a:spcPct val="125000"/>
              </a:lnSpc>
            </a:pPr>
            <a:r>
              <a:rPr lang="en-US" sz="9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Página 04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Pessoas em Primeiro Lugar">
            <a:extLst>
              <a:ext uri="{FF2B5EF4-FFF2-40B4-BE49-F238E27FC236}">
                <a16:creationId xmlns:a16="http://schemas.microsoft.com/office/drawing/2014/main" id="{4040D917-7199-4962-19F9-1A2263089B5F}"/>
              </a:ext>
            </a:extLst>
          </p:cNvPr>
          <p:cNvSpPr/>
          <p:nvPr/>
        </p:nvSpPr>
        <p:spPr>
          <a:xfrm>
            <a:off x="2372590" y="2230183"/>
            <a:ext cx="3922300" cy="683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85835"/>
            <a:r>
              <a:rPr lang="pt-BR" sz="4400" dirty="0">
                <a:solidFill>
                  <a:schemeClr val="bg1"/>
                </a:solidFill>
                <a:latin typeface="Aptos Display" panose="02110004020202020204"/>
              </a:rPr>
              <a:t>Agentes de IA</a:t>
            </a:r>
          </a:p>
        </p:txBody>
      </p:sp>
    </p:spTree>
    <p:extLst>
      <p:ext uri="{BB962C8B-B14F-4D97-AF65-F5344CB8AC3E}">
        <p14:creationId xmlns:p14="http://schemas.microsoft.com/office/powerpoint/2010/main" val="1857013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571500"/>
            <a:ext cx="357188" cy="357188"/>
          </a:xfrm>
          <a:prstGeom prst="ellipse">
            <a:avLst/>
          </a:prstGeom>
          <a:solidFill>
            <a:srgbClr val="001B44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9" y="692944"/>
            <a:ext cx="114300" cy="114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8625" y="1243013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QUE É UM LLM?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28625" y="1709142"/>
            <a:ext cx="25717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É o </a:t>
            </a:r>
            <a:r>
              <a:rPr lang="en-US" sz="800" b="1" dirty="0">
                <a:solidFill>
                  <a:srgbClr val="52525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"cérebro estatístico"</a:t>
            </a: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treinado para prever a próxima palavra. Exemplos: GPT-4o, Claude, Gemini e Llama.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428625" y="2479188"/>
            <a:ext cx="2571750" cy="73435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4"/>
          <p:cNvSpPr/>
          <p:nvPr/>
        </p:nvSpPr>
        <p:spPr>
          <a:xfrm>
            <a:off x="428625" y="2479188"/>
            <a:ext cx="28575" cy="734355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Text 5"/>
          <p:cNvSpPr/>
          <p:nvPr/>
        </p:nvSpPr>
        <p:spPr>
          <a:xfrm>
            <a:off x="535781" y="2686357"/>
            <a:ext cx="23574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Excelente para: resumir, traduzir, gerar código e criar conteúdo.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286125" y="571500"/>
            <a:ext cx="357188" cy="35718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569" y="692944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86125" y="1243013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LIMITAÇÃO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286125" y="1709142"/>
            <a:ext cx="25717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 LLM sozinho </a:t>
            </a:r>
            <a:r>
              <a:rPr lang="en-US" sz="800" b="1" dirty="0">
                <a:solidFill>
                  <a:srgbClr val="52525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não executa ações</a:t>
            </a: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 Ele pensa em linguagem, mas não consulta APIs ou toma decisões sozinho.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286125" y="2479188"/>
            <a:ext cx="2571750" cy="57434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0"/>
          <p:cNvSpPr/>
          <p:nvPr/>
        </p:nvSpPr>
        <p:spPr>
          <a:xfrm>
            <a:off x="3286125" y="2479188"/>
            <a:ext cx="28575" cy="57434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1"/>
          <p:cNvSpPr/>
          <p:nvPr/>
        </p:nvSpPr>
        <p:spPr>
          <a:xfrm>
            <a:off x="3393281" y="2686357"/>
            <a:ext cx="235743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"Ele apenas gera texto."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6143625" y="571500"/>
            <a:ext cx="357188" cy="357188"/>
          </a:xfrm>
          <a:prstGeom prst="ellipse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0781" y="692944"/>
            <a:ext cx="142875" cy="1143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43625" y="1243013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QUE É UM AGENTE?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143625" y="1709142"/>
            <a:ext cx="25717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Utiliza o LLM como </a:t>
            </a:r>
            <a:r>
              <a:rPr lang="en-US" sz="800" b="1" dirty="0">
                <a:solidFill>
                  <a:srgbClr val="52525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motor de raciocínio</a:t>
            </a: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mas adiciona planejamento, memória e execução de ações.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6143625" y="2479188"/>
            <a:ext cx="2571750" cy="57434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2" name="Shape 16"/>
          <p:cNvSpPr/>
          <p:nvPr/>
        </p:nvSpPr>
        <p:spPr>
          <a:xfrm>
            <a:off x="6143625" y="2479188"/>
            <a:ext cx="28575" cy="574346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Text 17"/>
          <p:cNvSpPr/>
          <p:nvPr/>
        </p:nvSpPr>
        <p:spPr>
          <a:xfrm>
            <a:off x="6250781" y="2686357"/>
            <a:ext cx="235743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Um sistema que consegue </a:t>
            </a:r>
            <a:r>
              <a:rPr lang="en-US" sz="700" b="1" dirty="0">
                <a:solidFill>
                  <a:srgbClr val="52525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raciocinar E agir</a:t>
            </a:r>
            <a:r>
              <a:rPr lang="en-US" sz="7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0" y="3571875"/>
            <a:ext cx="4286250" cy="1571625"/>
          </a:xfrm>
          <a:prstGeom prst="rect">
            <a:avLst/>
          </a:prstGeom>
          <a:solidFill>
            <a:srgbClr val="001B4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Text 19"/>
          <p:cNvSpPr/>
          <p:nvPr/>
        </p:nvSpPr>
        <p:spPr>
          <a:xfrm>
            <a:off x="285750" y="3795675"/>
            <a:ext cx="3714750" cy="848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LLM VS. AGENTE:
O CÉREBRO VS. O SISTEMA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065" y="714375"/>
            <a:ext cx="8677870" cy="82510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AGENT = MODEL + HARNESS</a:t>
            </a:r>
            <a:endParaRPr lang="en-US" sz="4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83284"/>
            <a:ext cx="17859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50" y="1968103"/>
            <a:ext cx="64829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Memória</a:t>
            </a:r>
            <a:endParaRPr lang="en-US" sz="10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63676"/>
            <a:ext cx="178594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57250" y="2248495"/>
            <a:ext cx="92154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Ferramentas</a:t>
            </a:r>
            <a:endParaRPr lang="en-US" sz="10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44068"/>
            <a:ext cx="178594" cy="1428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57250" y="2528888"/>
            <a:ext cx="76795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Workflows</a:t>
            </a:r>
            <a:endParaRPr lang="en-US" sz="10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731" y="1983284"/>
            <a:ext cx="178594" cy="14287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3619481" y="1968103"/>
            <a:ext cx="50006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Regras</a:t>
            </a:r>
            <a:endParaRPr lang="en-US" sz="10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731" y="2263676"/>
            <a:ext cx="178594" cy="14287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3619481" y="2248495"/>
            <a:ext cx="118586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Observabilidade</a:t>
            </a:r>
            <a:endParaRPr lang="en-US" sz="105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31" y="2544068"/>
            <a:ext cx="178594" cy="14287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3619481" y="2528888"/>
            <a:ext cx="114478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Integração APIs</a:t>
            </a:r>
            <a:endParaRPr lang="en-US" sz="10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5991" y="1983284"/>
            <a:ext cx="178594" cy="14287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381741" y="1968103"/>
            <a:ext cx="14769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Execução de Código</a:t>
            </a:r>
            <a:endParaRPr lang="en-US" sz="105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5991" y="2263676"/>
            <a:ext cx="178594" cy="142875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6381741" y="2248495"/>
            <a:ext cx="98762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Orquestração</a:t>
            </a:r>
            <a:endParaRPr lang="en-US" sz="105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5991" y="2544068"/>
            <a:ext cx="178594" cy="142875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6381741" y="2528888"/>
            <a:ext cx="13144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Controle Contexto</a:t>
            </a:r>
            <a:endParaRPr lang="en-US" sz="1050" dirty="0"/>
          </a:p>
        </p:txBody>
      </p:sp>
      <p:sp>
        <p:nvSpPr>
          <p:cNvPr id="22" name="Shape 10"/>
          <p:cNvSpPr/>
          <p:nvPr/>
        </p:nvSpPr>
        <p:spPr>
          <a:xfrm>
            <a:off x="0" y="3857625"/>
            <a:ext cx="3571875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Text 11"/>
          <p:cNvSpPr/>
          <p:nvPr/>
        </p:nvSpPr>
        <p:spPr>
          <a:xfrm>
            <a:off x="285750" y="3913659"/>
            <a:ext cx="30003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001B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EQUAÇÃO DO AGENTE:
MODEL + HARNESS</a:t>
            </a:r>
            <a:endParaRPr lang="en-US" sz="1600" dirty="0"/>
          </a:p>
        </p:txBody>
      </p:sp>
      <p:sp>
        <p:nvSpPr>
          <p:cNvPr id="24" name="Text 12"/>
          <p:cNvSpPr/>
          <p:nvPr/>
        </p:nvSpPr>
        <p:spPr>
          <a:xfrm>
            <a:off x="4964906" y="4700588"/>
            <a:ext cx="360759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A4E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Harness transforma o modelo em um sistema ativo.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MULTI-AGENTES?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64008" cy="173736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960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Especialização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Cada agente domina uma tarefa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4700" y="77724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BR"/>
          </a:p>
        </p:txBody>
      </p:sp>
      <p:sp>
        <p:nvSpPr>
          <p:cNvPr id="10" name="Shape 7"/>
          <p:cNvSpPr/>
          <p:nvPr/>
        </p:nvSpPr>
        <p:spPr>
          <a:xfrm>
            <a:off x="3314700" y="77724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10515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37660" y="960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Paralelismo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3766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Tarefas executam em paralelo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77724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BR"/>
          </a:p>
        </p:txBody>
      </p:sp>
      <p:sp>
        <p:nvSpPr>
          <p:cNvPr id="15" name="Shape 11"/>
          <p:cNvSpPr/>
          <p:nvPr/>
        </p:nvSpPr>
        <p:spPr>
          <a:xfrm>
            <a:off x="6126480" y="77724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0515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960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Confiabilidade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4944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Agentes se verificam mutuamente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265176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BR"/>
          </a:p>
        </p:txBody>
      </p:sp>
      <p:sp>
        <p:nvSpPr>
          <p:cNvPr id="20" name="Shape 15"/>
          <p:cNvSpPr/>
          <p:nvPr/>
        </p:nvSpPr>
        <p:spPr>
          <a:xfrm>
            <a:off x="502920" y="265176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9260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Escalabilidade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32588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Adicione agentes dinamicamente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314700" y="265176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BR"/>
          </a:p>
        </p:txBody>
      </p:sp>
      <p:sp>
        <p:nvSpPr>
          <p:cNvPr id="25" name="Shape 19"/>
          <p:cNvSpPr/>
          <p:nvPr/>
        </p:nvSpPr>
        <p:spPr>
          <a:xfrm>
            <a:off x="3314700" y="2651760"/>
            <a:ext cx="64008" cy="1737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3300" y="292608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3766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Limites de Contexto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13766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Divida problemas complexos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265176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BR"/>
          </a:p>
        </p:txBody>
      </p:sp>
      <p:sp>
        <p:nvSpPr>
          <p:cNvPr id="30" name="Shape 23"/>
          <p:cNvSpPr/>
          <p:nvPr/>
        </p:nvSpPr>
        <p:spPr>
          <a:xfrm>
            <a:off x="6126480" y="2651760"/>
            <a:ext cx="64008" cy="1737360"/>
          </a:xfrm>
          <a:prstGeom prst="rect">
            <a:avLst/>
          </a:prstGeom>
          <a:solidFill>
            <a:srgbClr val="E539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2926080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Orquestração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94944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Componha workflows complexos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74740-833F-D473-3D98-1ED918ABD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9DE62E7-5C69-CEBD-53E3-5B6AB2C07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10368" cy="5180832"/>
          </a:xfrm>
          <a:prstGeom prst="rect">
            <a:avLst/>
          </a:prstGeom>
        </p:spPr>
      </p:pic>
      <p:sp>
        <p:nvSpPr>
          <p:cNvPr id="7" name="Pgina 02">
            <a:extLst>
              <a:ext uri="{FF2B5EF4-FFF2-40B4-BE49-F238E27FC236}">
                <a16:creationId xmlns:a16="http://schemas.microsoft.com/office/drawing/2014/main" id="{182394CC-F3D8-C8A0-850A-459F3DC9E982}"/>
              </a:ext>
            </a:extLst>
          </p:cNvPr>
          <p:cNvSpPr/>
          <p:nvPr/>
        </p:nvSpPr>
        <p:spPr>
          <a:xfrm>
            <a:off x="381000" y="4591050"/>
            <a:ext cx="651934" cy="242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>
              <a:lnSpc>
                <a:spcPct val="125000"/>
              </a:lnSpc>
            </a:pPr>
            <a:r>
              <a:rPr lang="en-US" sz="9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Página 04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Pessoas em Primeiro Lugar">
            <a:extLst>
              <a:ext uri="{FF2B5EF4-FFF2-40B4-BE49-F238E27FC236}">
                <a16:creationId xmlns:a16="http://schemas.microsoft.com/office/drawing/2014/main" id="{484DB81A-FD66-AA85-B535-E706D37275C7}"/>
              </a:ext>
            </a:extLst>
          </p:cNvPr>
          <p:cNvSpPr/>
          <p:nvPr/>
        </p:nvSpPr>
        <p:spPr>
          <a:xfrm>
            <a:off x="1305617" y="1600705"/>
            <a:ext cx="6711947" cy="71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85835"/>
            <a:r>
              <a:rPr lang="pt-BR" sz="4400" dirty="0">
                <a:solidFill>
                  <a:schemeClr val="bg1"/>
                </a:solidFill>
                <a:latin typeface="Aptos Display" panose="02110004020202020204"/>
              </a:rPr>
              <a:t>Como orquestrar os agentes?</a:t>
            </a:r>
          </a:p>
        </p:txBody>
      </p:sp>
    </p:spTree>
    <p:extLst>
      <p:ext uri="{BB962C8B-B14F-4D97-AF65-F5344CB8AC3E}">
        <p14:creationId xmlns:p14="http://schemas.microsoft.com/office/powerpoint/2010/main" val="1188030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WORKFLOWS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CAF9"/>
                </a:solidFill>
              </a:rPr>
              <a:t>Executores · Arestas · Orquestração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0" y="137160"/>
            <a:ext cx="2926080" cy="1280160"/>
          </a:xfrm>
          <a:prstGeom prst="rect">
            <a:avLst/>
          </a:prstGeom>
          <a:solidFill>
            <a:srgbClr val="0D2035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/>
          <p:nvPr/>
        </p:nvSpPr>
        <p:spPr>
          <a:xfrm>
            <a:off x="5943600" y="137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LEGENDA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502920"/>
            <a:ext cx="228600" cy="2286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6400800" y="475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Nó / Executor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80760" y="868680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/>
          <p:nvPr/>
        </p:nvSpPr>
        <p:spPr>
          <a:xfrm>
            <a:off x="6400800" y="758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Aresta / Conexão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80760" y="1188720"/>
            <a:ext cx="32004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dash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/>
          <p:nvPr/>
        </p:nvSpPr>
        <p:spPr>
          <a:xfrm>
            <a:off x="6400800" y="1078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Aresta Condicional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INÍCIO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0" y="2286000"/>
            <a:ext cx="1280160" cy="54864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BR"/>
          </a:p>
        </p:txBody>
      </p:sp>
      <p:sp>
        <p:nvSpPr>
          <p:cNvPr id="15" name="Text 13"/>
          <p:cNvSpPr/>
          <p:nvPr/>
        </p:nvSpPr>
        <p:spPr>
          <a:xfrm>
            <a:off x="1828800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ROTEADOR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146304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BR"/>
          </a:p>
        </p:txBody>
      </p:sp>
      <p:sp>
        <p:nvSpPr>
          <p:cNvPr id="17" name="Text 15"/>
          <p:cNvSpPr/>
          <p:nvPr/>
        </p:nvSpPr>
        <p:spPr>
          <a:xfrm>
            <a:off x="356616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PESQUISADOR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3017520"/>
            <a:ext cx="1280160" cy="54864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BR"/>
          </a:p>
        </p:txBody>
      </p:sp>
      <p:sp>
        <p:nvSpPr>
          <p:cNvPr id="19" name="Text 17"/>
          <p:cNvSpPr/>
          <p:nvPr/>
        </p:nvSpPr>
        <p:spPr>
          <a:xfrm>
            <a:off x="3566160" y="3017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CODIFICADOR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2286000"/>
            <a:ext cx="1371600" cy="54864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/>
          <p:nvPr/>
        </p:nvSpPr>
        <p:spPr>
          <a:xfrm>
            <a:off x="566928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89520" y="2286000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BR"/>
          </a:p>
        </p:txBody>
      </p:sp>
      <p:sp>
        <p:nvSpPr>
          <p:cNvPr id="23" name="Text 21"/>
          <p:cNvSpPr/>
          <p:nvPr/>
        </p:nvSpPr>
        <p:spPr>
          <a:xfrm>
            <a:off x="758952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417320" y="2560320"/>
            <a:ext cx="4114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Shape 23"/>
          <p:cNvSpPr/>
          <p:nvPr/>
        </p:nvSpPr>
        <p:spPr>
          <a:xfrm>
            <a:off x="3108960" y="2423160"/>
            <a:ext cx="45720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dash"/>
          </a:ln>
        </p:spPr>
        <p:txBody>
          <a:bodyPr/>
          <a:lstStyle/>
          <a:p>
            <a:endParaRPr lang="en-BR"/>
          </a:p>
        </p:txBody>
      </p:sp>
      <p:sp>
        <p:nvSpPr>
          <p:cNvPr id="26" name="Shape 24"/>
          <p:cNvSpPr/>
          <p:nvPr/>
        </p:nvSpPr>
        <p:spPr>
          <a:xfrm>
            <a:off x="3108960" y="2697480"/>
            <a:ext cx="457200" cy="594360"/>
          </a:xfrm>
          <a:prstGeom prst="line">
            <a:avLst/>
          </a:prstGeom>
          <a:noFill/>
          <a:ln w="25400">
            <a:solidFill>
              <a:srgbClr val="FF6B35"/>
            </a:solidFill>
            <a:prstDash val="dash"/>
          </a:ln>
        </p:spPr>
        <p:txBody>
          <a:bodyPr/>
          <a:lstStyle/>
          <a:p>
            <a:endParaRPr lang="en-BR"/>
          </a:p>
        </p:txBody>
      </p:sp>
      <p:sp>
        <p:nvSpPr>
          <p:cNvPr id="27" name="Shape 25"/>
          <p:cNvSpPr/>
          <p:nvPr/>
        </p:nvSpPr>
        <p:spPr>
          <a:xfrm>
            <a:off x="5120640" y="1737360"/>
            <a:ext cx="548640" cy="77724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8" name="Shape 26"/>
          <p:cNvSpPr/>
          <p:nvPr/>
        </p:nvSpPr>
        <p:spPr>
          <a:xfrm flipV="1">
            <a:off x="4846320" y="2788920"/>
            <a:ext cx="822960" cy="5029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9" name="Shape 27"/>
          <p:cNvSpPr/>
          <p:nvPr/>
        </p:nvSpPr>
        <p:spPr>
          <a:xfrm>
            <a:off x="7040880" y="2560320"/>
            <a:ext cx="5486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Text 28"/>
          <p:cNvSpPr/>
          <p:nvPr/>
        </p:nvSpPr>
        <p:spPr>
          <a:xfrm>
            <a:off x="3063240" y="1737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6B35"/>
                </a:solidFill>
              </a:rPr>
              <a:t>consulta?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63240" y="3063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6B35"/>
                </a:solidFill>
              </a:rPr>
              <a:t>código?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4251960"/>
            <a:ext cx="1965960" cy="685800"/>
          </a:xfrm>
          <a:prstGeom prst="rect">
            <a:avLst/>
          </a:prstGeom>
          <a:solidFill>
            <a:srgbClr val="0D2035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3" name="Text 31"/>
          <p:cNvSpPr/>
          <p:nvPr/>
        </p:nvSpPr>
        <p:spPr>
          <a:xfrm>
            <a:off x="41148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EXECUTORES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4553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CAF9"/>
                </a:solidFill>
              </a:rPr>
              <a:t>Nós que executam a lógica do agente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14600" y="4251960"/>
            <a:ext cx="1965960" cy="685800"/>
          </a:xfrm>
          <a:prstGeom prst="rect">
            <a:avLst/>
          </a:prstGeom>
          <a:solidFill>
            <a:srgbClr val="0D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6" name="Text 34"/>
          <p:cNvSpPr/>
          <p:nvPr/>
        </p:nvSpPr>
        <p:spPr>
          <a:xfrm>
            <a:off x="256032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ARESTAS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60320" y="4553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CAF9"/>
                </a:solidFill>
              </a:rPr>
              <a:t>Conexões direcionadas entre nós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4251960"/>
            <a:ext cx="1965960" cy="685800"/>
          </a:xfrm>
          <a:prstGeom prst="rect">
            <a:avLst/>
          </a:prstGeom>
          <a:solidFill>
            <a:srgbClr val="0D20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9" name="Text 37"/>
          <p:cNvSpPr/>
          <p:nvPr/>
        </p:nvSpPr>
        <p:spPr>
          <a:xfrm>
            <a:off x="470916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ESTADO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4553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CAF9"/>
                </a:solidFill>
              </a:rPr>
              <a:t>Contexto compartilhado entre nós</a:t>
            </a:r>
            <a:endParaRPr lang="en-US" sz="800" dirty="0"/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61BE386F-E432-CFD3-17EE-1A3732875EA2}"/>
              </a:ext>
            </a:extLst>
          </p:cNvPr>
          <p:cNvSpPr/>
          <p:nvPr/>
        </p:nvSpPr>
        <p:spPr>
          <a:xfrm>
            <a:off x="6812280" y="4251960"/>
            <a:ext cx="1965960" cy="685800"/>
          </a:xfrm>
          <a:prstGeom prst="rect">
            <a:avLst/>
          </a:prstGeom>
          <a:solidFill>
            <a:srgbClr val="0D20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858ECF25-80CA-E724-4DC8-53E3FB9D1CF8}"/>
              </a:ext>
            </a:extLst>
          </p:cNvPr>
          <p:cNvSpPr/>
          <p:nvPr/>
        </p:nvSpPr>
        <p:spPr>
          <a:xfrm>
            <a:off x="685800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CA5D7DC3-5247-F2FE-BCB3-B14053BD0142}"/>
              </a:ext>
            </a:extLst>
          </p:cNvPr>
          <p:cNvSpPr/>
          <p:nvPr/>
        </p:nvSpPr>
        <p:spPr>
          <a:xfrm>
            <a:off x="6858000" y="4553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CAF9"/>
                </a:solidFill>
              </a:rPr>
              <a:t>Salvar o </a:t>
            </a:r>
            <a:r>
              <a:rPr lang="en-US" sz="800" dirty="0" err="1">
                <a:solidFill>
                  <a:srgbClr val="90CAF9"/>
                </a:solidFill>
              </a:rPr>
              <a:t>estado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E1F1A-6658-4CF2-F24A-9D79076FA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FE3ACDF-BB54-C1C0-BBF4-88A26E73A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10368" cy="5180832"/>
          </a:xfrm>
          <a:prstGeom prst="rect">
            <a:avLst/>
          </a:prstGeom>
        </p:spPr>
      </p:pic>
      <p:sp>
        <p:nvSpPr>
          <p:cNvPr id="7" name="Pgina 02">
            <a:extLst>
              <a:ext uri="{FF2B5EF4-FFF2-40B4-BE49-F238E27FC236}">
                <a16:creationId xmlns:a16="http://schemas.microsoft.com/office/drawing/2014/main" id="{65949AE1-C457-008C-7C07-96E6E5961761}"/>
              </a:ext>
            </a:extLst>
          </p:cNvPr>
          <p:cNvSpPr/>
          <p:nvPr/>
        </p:nvSpPr>
        <p:spPr>
          <a:xfrm>
            <a:off x="381000" y="4591050"/>
            <a:ext cx="651934" cy="242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>
              <a:lnSpc>
                <a:spcPct val="125000"/>
              </a:lnSpc>
            </a:pPr>
            <a:r>
              <a:rPr lang="en-US" sz="9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Página 04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Pessoas em Primeiro Lugar">
            <a:extLst>
              <a:ext uri="{FF2B5EF4-FFF2-40B4-BE49-F238E27FC236}">
                <a16:creationId xmlns:a16="http://schemas.microsoft.com/office/drawing/2014/main" id="{118A7E3D-184C-7AFD-F304-4FDA0226D04C}"/>
              </a:ext>
            </a:extLst>
          </p:cNvPr>
          <p:cNvSpPr/>
          <p:nvPr/>
        </p:nvSpPr>
        <p:spPr>
          <a:xfrm>
            <a:off x="1139966" y="957975"/>
            <a:ext cx="6599132" cy="683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85835"/>
            <a:r>
              <a:rPr lang="pt-BR" sz="4400" dirty="0">
                <a:solidFill>
                  <a:schemeClr val="bg1"/>
                </a:solidFill>
                <a:latin typeface="Aptos Display" panose="02110004020202020204"/>
              </a:rPr>
              <a:t>A solução: Microsoft Agent Framework</a:t>
            </a:r>
          </a:p>
        </p:txBody>
      </p:sp>
      <p:sp>
        <p:nvSpPr>
          <p:cNvPr id="4" name="Pessoas em Primeiro Lugar">
            <a:extLst>
              <a:ext uri="{FF2B5EF4-FFF2-40B4-BE49-F238E27FC236}">
                <a16:creationId xmlns:a16="http://schemas.microsoft.com/office/drawing/2014/main" id="{708D0D27-605B-06D9-AF42-584FAF6B3AC9}"/>
              </a:ext>
            </a:extLst>
          </p:cNvPr>
          <p:cNvSpPr/>
          <p:nvPr/>
        </p:nvSpPr>
        <p:spPr>
          <a:xfrm>
            <a:off x="2133879" y="2571750"/>
            <a:ext cx="4492208" cy="284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85835"/>
            <a:r>
              <a:rPr lang="pt-BR" sz="3200" dirty="0" err="1">
                <a:solidFill>
                  <a:schemeClr val="bg1"/>
                </a:solidFill>
                <a:latin typeface="Aptos Display" panose="02110004020202020204"/>
              </a:rPr>
              <a:t>Maf</a:t>
            </a:r>
            <a:r>
              <a:rPr lang="pt-BR" sz="3200" dirty="0">
                <a:solidFill>
                  <a:schemeClr val="bg1"/>
                </a:solidFill>
                <a:latin typeface="Aptos Display" panose="02110004020202020204"/>
              </a:rPr>
              <a:t> para os </a:t>
            </a:r>
            <a:r>
              <a:rPr lang="pt-BR" sz="3200" dirty="0" err="1">
                <a:solidFill>
                  <a:schemeClr val="bg1"/>
                </a:solidFill>
                <a:latin typeface="Aptos Display" panose="02110004020202020204"/>
              </a:rPr>
              <a:t>intimos</a:t>
            </a:r>
            <a:endParaRPr lang="pt-BR" sz="3200" dirty="0">
              <a:solidFill>
                <a:schemeClr val="bg1"/>
              </a:solidFill>
              <a:latin typeface="Aptos Display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50282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Que um Novo Framework?</a:t>
            </a:r>
            <a:endParaRPr kumimoji="0" lang="en-US" sz="243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8001000" cy="108585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1294805"/>
            <a:ext cx="1785938" cy="1071563"/>
          </a:xfrm>
          <a:prstGeom prst="rect">
            <a:avLst/>
          </a:pr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350294" y="1294805"/>
            <a:ext cx="7144" cy="1071563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1294805"/>
            <a:ext cx="1785938" cy="107156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6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Semantic Kernel</a:t>
            </a:r>
            <a:endParaRPr kumimoji="0" lang="en-US" sz="126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357438" y="1294805"/>
            <a:ext cx="6215063" cy="1071563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Construído originalmente para integrar LLMs em apps convencionais (Kernel/Plugins). O conceito de </a:t>
            </a: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"agente" foi adicionado depois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(retrofitted) sobre primitivas de orquestração.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71500" y="2580680"/>
            <a:ext cx="8001000" cy="87153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71500" y="2580680"/>
            <a:ext cx="1785938" cy="857250"/>
          </a:xfrm>
          <a:prstGeom prst="rect">
            <a:avLst/>
          </a:pr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350294" y="2580680"/>
            <a:ext cx="7144" cy="85725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1500" y="2580680"/>
            <a:ext cx="1785938" cy="8572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6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AutoGen</a:t>
            </a:r>
            <a:endParaRPr kumimoji="0" lang="en-US" sz="126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357438" y="2580680"/>
            <a:ext cx="6215063" cy="857250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Focado em pesquisa e inovação em conversas multi-agente dinâmicas, mas com </a:t>
            </a: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menos foco em estabilidade empresarial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e integração de sistemas legados.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71500" y="3652242"/>
            <a:ext cx="8001000" cy="885825"/>
          </a:xfrm>
          <a:prstGeom prst="rect">
            <a:avLst/>
          </a:prstGeom>
          <a:solidFill>
            <a:srgbClr val="00A3E0">
              <a:alpha val="10000"/>
            </a:srgbClr>
          </a:solidFill>
          <a:ln w="18288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71500" y="3652242"/>
            <a:ext cx="1785938" cy="85725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350294" y="3652242"/>
            <a:ext cx="7144" cy="85725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71500" y="3652242"/>
            <a:ext cx="1785938" cy="8572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6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Framework</a:t>
            </a:r>
            <a:endParaRPr kumimoji="0" lang="en-US" sz="126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357438" y="3652242"/>
            <a:ext cx="6215063" cy="857250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Nasce </a:t>
            </a: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"Agent-First"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: projetado desde o primeiro dia para ser a base de agentes inteligentes, workflows estruturados e execução de nível empresarial.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é o Microsoft Agent Framework?</a:t>
            </a:r>
            <a:endParaRPr kumimoji="0" lang="en-US" sz="243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3857625" cy="3270052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57250" y="1580555"/>
            <a:ext cx="32861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NOVA BASE UNIFICADA</a:t>
            </a:r>
            <a:endParaRPr kumimoji="0" lang="en-US" sz="13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007394"/>
            <a:ext cx="125016" cy="1857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6566" y="2007394"/>
            <a:ext cx="30468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Microsoft Agent Framework (AF)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é o sucessor direto do Semantic Kernel e do AutoGen.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836069"/>
            <a:ext cx="125016" cy="1857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6566" y="2836069"/>
            <a:ext cx="30468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Criado pelas mesmas equipes para consolidar o aprendizado em orquestração de IA.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664744"/>
            <a:ext cx="125016" cy="1857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6566" y="3664744"/>
            <a:ext cx="30468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Oferece um modelo de programação unificado para </a:t>
            </a: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.NET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4714875" y="1294805"/>
            <a:ext cx="3857625" cy="3255764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000625" y="1580555"/>
            <a:ext cx="32861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FOCO EMPRESARIAL</a:t>
            </a:r>
            <a:endParaRPr kumimoji="0" lang="en-US" sz="13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2007394"/>
            <a:ext cx="142875" cy="1857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57800" y="2007394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Projetado para aplicações de IA de </a:t>
            </a: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nível empresarial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robustas e seguras.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2607469"/>
            <a:ext cx="142875" cy="1857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57800" y="2607469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Integração profunda com o ecossistema Azure e Microsoft Foundry.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3207544"/>
            <a:ext cx="142875" cy="18573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57800" y="3207544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Foco em estabilidade, telemetria e gerenciamento de estado avançado.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Comparação de Ecossistemas</a:t>
            </a:r>
            <a:endParaRPr kumimoji="0" lang="en-US" sz="243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8001000" cy="278606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5072" y="1298377"/>
            <a:ext cx="1997571" cy="498277"/>
          </a:xfrm>
          <a:prstGeom prst="rect">
            <a:avLst/>
          </a:prstGeom>
          <a:solidFill>
            <a:srgbClr val="00A3E0"/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5072" y="1298377"/>
            <a:ext cx="1997571" cy="49827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CARACTERÍSTICA</a:t>
            </a:r>
            <a:endParaRPr kumimoji="0" lang="en-US" sz="10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572643" y="1298377"/>
            <a:ext cx="2162268" cy="498277"/>
          </a:xfrm>
          <a:prstGeom prst="rect">
            <a:avLst/>
          </a:prstGeom>
          <a:solidFill>
            <a:srgbClr val="00A3E0"/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572643" y="1298377"/>
            <a:ext cx="2162268" cy="49827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SEMANTIC KERNEL</a:t>
            </a:r>
            <a:endParaRPr kumimoji="0" lang="en-US" sz="10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734911" y="1298377"/>
            <a:ext cx="1837646" cy="498277"/>
          </a:xfrm>
          <a:prstGeom prst="rect">
            <a:avLst/>
          </a:prstGeom>
          <a:solidFill>
            <a:srgbClr val="00A3E0"/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734911" y="1298377"/>
            <a:ext cx="1837646" cy="49827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AUTOGEN</a:t>
            </a:r>
            <a:endParaRPr kumimoji="0" lang="en-US" sz="10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572557" y="1298377"/>
            <a:ext cx="1992799" cy="498277"/>
          </a:xfrm>
          <a:prstGeom prst="rect">
            <a:avLst/>
          </a:prstGeom>
          <a:solidFill>
            <a:srgbClr val="00A3E0"/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572557" y="1298377"/>
            <a:ext cx="1992799" cy="49827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FRAMEWORK</a:t>
            </a:r>
            <a:endParaRPr kumimoji="0" lang="en-US" sz="10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75072" y="1789509"/>
            <a:ext cx="1997571" cy="455414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5072" y="1789509"/>
            <a:ext cx="1997571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Design de Agentes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572643" y="1789509"/>
            <a:ext cx="2162268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Adicionado depois (Retrofitted)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34911" y="1789509"/>
            <a:ext cx="1837646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Sim (Foco em Conversa)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572557" y="1789509"/>
            <a:ext cx="1992799" cy="455414"/>
          </a:xfrm>
          <a:prstGeom prst="rect">
            <a:avLst/>
          </a:prstGeom>
          <a:solidFill>
            <a:srgbClr val="00A3E0">
              <a:alpha val="20000"/>
            </a:srgbClr>
          </a:solidFill>
          <a:ln w="18288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004" y="1941314"/>
            <a:ext cx="128588" cy="1285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04741" y="1928813"/>
            <a:ext cx="12376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Nativo (Agent-First)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75072" y="2234208"/>
            <a:ext cx="1997571" cy="455414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575072" y="2234208"/>
            <a:ext cx="1997571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Workflows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2572643" y="2234208"/>
            <a:ext cx="2162268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Orquestração Manual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734911" y="2234208"/>
            <a:ext cx="1837646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Conversacional Dinâmico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6572557" y="2234208"/>
            <a:ext cx="1992799" cy="455414"/>
          </a:xfrm>
          <a:prstGeom prst="rect">
            <a:avLst/>
          </a:prstGeom>
          <a:solidFill>
            <a:srgbClr val="00A3E0">
              <a:alpha val="20000"/>
            </a:srgbClr>
          </a:solidFill>
          <a:ln w="18288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832" y="2389584"/>
            <a:ext cx="128588" cy="128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03569" y="2377083"/>
            <a:ext cx="12126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Baseado em Grafos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575072" y="2682478"/>
            <a:ext cx="1997571" cy="455414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575072" y="2682478"/>
            <a:ext cx="1997571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Estado e Sessão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2572643" y="2682478"/>
            <a:ext cx="2163580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Robusto (Kernel-based)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4736223" y="2682478"/>
            <a:ext cx="1835162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Básico / Volátil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6571385" y="2682478"/>
            <a:ext cx="1993971" cy="455414"/>
          </a:xfrm>
          <a:prstGeom prst="rect">
            <a:avLst/>
          </a:prstGeom>
          <a:solidFill>
            <a:srgbClr val="00A3E0">
              <a:alpha val="20000"/>
            </a:srgbClr>
          </a:solidFill>
          <a:ln w="18288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7832" y="2837855"/>
            <a:ext cx="128588" cy="1285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03569" y="2825353"/>
            <a:ext cx="14626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Avançado e Persistente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575072" y="3130748"/>
            <a:ext cx="1997571" cy="455414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575072" y="3130748"/>
            <a:ext cx="1997571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Linguagens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2572643" y="3130748"/>
            <a:ext cx="2163580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.NET / Python / Java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4736223" y="3130748"/>
            <a:ext cx="1835162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Python (Principal)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4"/>
          <p:cNvSpPr/>
          <p:nvPr/>
        </p:nvSpPr>
        <p:spPr>
          <a:xfrm>
            <a:off x="6571385" y="3130748"/>
            <a:ext cx="1993971" cy="455414"/>
          </a:xfrm>
          <a:prstGeom prst="rect">
            <a:avLst/>
          </a:prstGeom>
          <a:solidFill>
            <a:srgbClr val="00A3E0">
              <a:alpha val="20000"/>
            </a:srgbClr>
          </a:solidFill>
          <a:ln w="18288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5059" y="3286125"/>
            <a:ext cx="128588" cy="12858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910797" y="3273623"/>
            <a:ext cx="14876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Unificado .NET / Python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6"/>
          <p:cNvSpPr/>
          <p:nvPr/>
        </p:nvSpPr>
        <p:spPr>
          <a:xfrm>
            <a:off x="575072" y="3579019"/>
            <a:ext cx="1997571" cy="455414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7"/>
          <p:cNvSpPr/>
          <p:nvPr/>
        </p:nvSpPr>
        <p:spPr>
          <a:xfrm>
            <a:off x="575072" y="3579019"/>
            <a:ext cx="1997571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Foco Principal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8"/>
          <p:cNvSpPr/>
          <p:nvPr/>
        </p:nvSpPr>
        <p:spPr>
          <a:xfrm>
            <a:off x="2569964" y="3579019"/>
            <a:ext cx="2168463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Integração de LLM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39"/>
          <p:cNvSpPr/>
          <p:nvPr/>
        </p:nvSpPr>
        <p:spPr>
          <a:xfrm>
            <a:off x="4738427" y="3579019"/>
            <a:ext cx="1839292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Pesquisa Multi-Agente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0"/>
          <p:cNvSpPr/>
          <p:nvPr/>
        </p:nvSpPr>
        <p:spPr>
          <a:xfrm>
            <a:off x="6577719" y="3579019"/>
            <a:ext cx="1987637" cy="455414"/>
          </a:xfrm>
          <a:prstGeom prst="rect">
            <a:avLst/>
          </a:prstGeom>
          <a:solidFill>
            <a:srgbClr val="00A3E0">
              <a:alpha val="20000"/>
            </a:srgbClr>
          </a:solidFill>
          <a:ln w="18288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524" y="3737967"/>
            <a:ext cx="128588" cy="12858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6915262" y="3725466"/>
            <a:ext cx="13698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Aplicações Enterprise</a:t>
            </a:r>
            <a:endParaRPr kumimoji="0" lang="en-US" sz="8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Dois Pilares do Framework</a:t>
            </a:r>
            <a:endParaRPr kumimoji="0" lang="en-US" sz="243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3857625" cy="346036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07344"/>
            <a:ext cx="357188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7250" y="2069902"/>
            <a:ext cx="1934170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2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Agentes (Agents)</a:t>
            </a:r>
            <a:endParaRPr kumimoji="0" lang="en-US" sz="160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857250" y="2546747"/>
            <a:ext cx="32861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Entidades individuais que utilizam LLMs para processar entradas, raciocinar sobre tarefas e executar ações.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440720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2988" y="3335350"/>
            <a:ext cx="310038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Suporte a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múltiplos provedores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(Azure, OpenAI, Ollama)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759510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42988" y="3731828"/>
            <a:ext cx="2287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Uso de ferramentas e servidores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MCP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000612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42988" y="3972930"/>
            <a:ext cx="26539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Conversas multi-turno e memória contextual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241713"/>
            <a:ext cx="100013" cy="1000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42988" y="4214031"/>
            <a:ext cx="1943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Raciocínio dinâmico e autônomo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4714875" y="1294805"/>
            <a:ext cx="3857625" cy="344607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1607344"/>
            <a:ext cx="321469" cy="2857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00625" y="2069902"/>
            <a:ext cx="1148358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2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Workflows</a:t>
            </a:r>
            <a:endParaRPr kumimoji="0" lang="en-US" sz="160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5000625" y="2546747"/>
            <a:ext cx="32861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Estruturas baseadas em grafos que conectam agentes e funções para orquestrar tarefas complexas e multi-etapas.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3363032"/>
            <a:ext cx="100013" cy="100013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86363" y="3335350"/>
            <a:ext cx="22806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Roteamento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Type-Safe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determinístico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3604133"/>
            <a:ext cx="100013" cy="100013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86363" y="3576451"/>
            <a:ext cx="24699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Sistema de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Checkpointing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e persistência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3845235"/>
            <a:ext cx="100013" cy="100013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186363" y="3817553"/>
            <a:ext cx="22181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Suporte nativo a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4086337"/>
            <a:ext cx="100013" cy="100013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186363" y="4058655"/>
            <a:ext cx="27217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Execução sequencial, paralela ou condicional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Vantagens para o Desenvolvedor Enterprise</a:t>
            </a:r>
            <a:endParaRPr kumimoji="0" lang="en-US" sz="243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3893344" cy="138510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518047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509117"/>
            <a:ext cx="105370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 SAFETY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785813" y="1834158"/>
            <a:ext cx="34647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Redução drástica de erros em tempo de execução através de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tipagem forte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em .NET e Python, garantindo contratos claros entre agentes e ferramentas.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679156" y="1294805"/>
            <a:ext cx="3893344" cy="138510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518047"/>
            <a:ext cx="175022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75647" y="1509117"/>
            <a:ext cx="15430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GESTÃO DE SESSÃO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93469" y="1834158"/>
            <a:ext cx="34647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Estado persistente nativo para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conversas de longa duração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. Gerencie o histórico e o contexto de múltiplos usuários de forma escalável e segura.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571500" y="2894223"/>
            <a:ext cx="3893344" cy="138510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117466"/>
            <a:ext cx="200025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2994" y="3108536"/>
            <a:ext cx="106977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MIDDLEWARE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785813" y="3433576"/>
            <a:ext cx="34647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Intercepte e modifique ações do agente em tempo real. Essencial para implementar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filtros de segurança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auditoria e lógica de negócios customizada.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4679156" y="2894223"/>
            <a:ext cx="3893344" cy="138510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103178"/>
            <a:ext cx="200025" cy="2000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00650" y="3094248"/>
            <a:ext cx="98940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TELEMETRIA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4893469" y="3419289"/>
            <a:ext cx="34647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Monitoramento detalhado de performance, latência e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custos de tokens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. Integração nativa com ferramentas de observabilidade enterprise.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Workflows em Grafo: O Diferencial Estrutural</a:t>
            </a:r>
            <a:endParaRPr kumimoji="0" lang="en-US" sz="243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3857625" cy="300573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57250" y="1580555"/>
            <a:ext cx="32861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CONTROLE DE EXECUÇÃO</a:t>
            </a:r>
            <a:endParaRPr kumimoji="0" lang="en-US" sz="13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023467"/>
            <a:ext cx="171450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4425" y="2007394"/>
            <a:ext cx="25574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Orquestração Baseada em Grafos</a:t>
            </a:r>
            <a:endParaRPr kumimoji="0" lang="en-US" sz="10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57250" y="2253853"/>
            <a:ext cx="3286125" cy="578644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Permite definir caminhos de execução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explícitos e determinísticos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entre múltiplos agentes e funções.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020020"/>
            <a:ext cx="171450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4425" y="3003947"/>
            <a:ext cx="219134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Determinismo vs. Autonomia</a:t>
            </a:r>
            <a:endParaRPr kumimoji="0" lang="en-US" sz="10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57250" y="3250406"/>
            <a:ext cx="3286125" cy="578644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Misture lógica de programação clássica (if/else, loops) com o raciocínio dinâmico e probabilístico da IA.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714875" y="1294805"/>
            <a:ext cx="3857625" cy="300573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5000625" y="1580555"/>
            <a:ext cx="32861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RESILIÊNCIA E INTERAÇÃO</a:t>
            </a:r>
            <a:endParaRPr kumimoji="0" lang="en-US" sz="13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2023467"/>
            <a:ext cx="171450" cy="1571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57800" y="2007394"/>
            <a:ext cx="147697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</a:t>
            </a:r>
            <a:endParaRPr kumimoji="0" lang="en-US" sz="10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000625" y="2253853"/>
            <a:ext cx="3286125" cy="578644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Suporte nativo para pausar a execução, solicitar aprovação ou entrada humana e retomar o processo.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3020020"/>
            <a:ext cx="171450" cy="15716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57800" y="3003947"/>
            <a:ext cx="22145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Checkpointing e Persistência</a:t>
            </a:r>
            <a:endParaRPr kumimoji="0" lang="en-US" sz="10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5000625" y="3250406"/>
            <a:ext cx="3286125" cy="578644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Capacidade de salvar o estado do workflow em qualquer ponto, permitindo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recuperação de falhas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e processos de longa duração.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0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Quando Usar Agentes vs Workflows?</a:t>
            </a:r>
            <a:endParaRPr kumimoji="0" lang="en-US" sz="243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223367"/>
            <a:ext cx="3857625" cy="2812852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465362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1569" y="1437680"/>
            <a:ext cx="206275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Agentes Quando:</a:t>
            </a:r>
            <a:endParaRPr kumimoji="0" lang="en-US" sz="13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1835944"/>
            <a:ext cx="128588" cy="1571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0125" y="1835944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 tarefa exige 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raciocínio dinâmico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e tomada de decisão em tempo real.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328863"/>
            <a:ext cx="128588" cy="1571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0125" y="2328863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 caminho para a solução não é estritamente definido ou linear.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821781"/>
            <a:ext cx="128588" cy="1571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0125" y="2821781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Há necessidade de conversas multi-turno complexas com o usuário.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314700"/>
            <a:ext cx="128588" cy="15716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0125" y="3314700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 agente precisa escolher autonomamente quais ferramentas usar.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4714875" y="1223367"/>
            <a:ext cx="3857625" cy="2812852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465362"/>
            <a:ext cx="225028" cy="20002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39941" y="1437680"/>
            <a:ext cx="227349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Workflows Quando:</a:t>
            </a:r>
            <a:endParaRPr kumimoji="0" lang="en-US" sz="13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835944"/>
            <a:ext cx="128588" cy="15716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43500" y="1835944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 processo tem 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etapas claras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sequenciais ou condicionais.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328863"/>
            <a:ext cx="128588" cy="157163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143500" y="2328863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É necessário controle rígido e determinístico sobre a execução.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821781"/>
            <a:ext cx="128588" cy="157163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143500" y="2821781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 tarefa exige 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checkpoints de segurança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ou aprovação humana.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3314700"/>
            <a:ext cx="128588" cy="157163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143500" y="3314700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Você precisa de roteamento type-safe entre diferentes agentes.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15"/>
          <p:cNvSpPr/>
          <p:nvPr/>
        </p:nvSpPr>
        <p:spPr>
          <a:xfrm>
            <a:off x="571500" y="4307681"/>
            <a:ext cx="8001000" cy="871538"/>
          </a:xfrm>
          <a:prstGeom prst="rect">
            <a:avLst/>
          </a:prstGeom>
          <a:solidFill>
            <a:srgbClr val="00A3E0">
              <a:alpha val="10000"/>
            </a:srgbClr>
          </a:solidFill>
          <a:ln w="18288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4554141"/>
            <a:ext cx="385763" cy="34290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1343025" y="4539853"/>
            <a:ext cx="7015163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0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Regra de Ouro:</a:t>
            </a:r>
            <a:r>
              <a:rPr kumimoji="0" lang="en-US" sz="109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Se você pode resolver o problema com uma função de código simples e determinística, faça isso em vez de usar um agente de IA.</a:t>
            </a:r>
            <a:endParaRPr kumimoji="0" lang="en-US" sz="10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Anatomia de um Workflow (Graph-based)</a:t>
            </a:r>
            <a:endParaRPr kumimoji="0" lang="en-US" sz="243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3893344" cy="11793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518047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2994" y="1509117"/>
            <a:ext cx="94833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EXECUTORS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785813" y="1834158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Unidades de processamento do grafo. Podem ser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Agentes de IA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ou funções de código C# determinísticas.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679156" y="1294805"/>
            <a:ext cx="3893344" cy="11793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518047"/>
            <a:ext cx="225028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25653" y="1509117"/>
            <a:ext cx="51970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EDGES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93469" y="1834158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Conexões que definem o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fluxo de mensagens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entre os Executors. Definem quem fala com quem.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571500" y="2674218"/>
            <a:ext cx="3893344" cy="11793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897460"/>
            <a:ext cx="200025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2994" y="2888531"/>
            <a:ext cx="109299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ROTEAMENTO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785813" y="3213571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Lógica condicional para decidir o próximo passo com base no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conteúdo da mensagem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ou estado do workflow.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4679156" y="2674218"/>
            <a:ext cx="3893344" cy="11793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2897460"/>
            <a:ext cx="175022" cy="2000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75647" y="2888531"/>
            <a:ext cx="12858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CHECKPOINTING</a:t>
            </a:r>
            <a:endParaRPr kumimoji="0" lang="en-US" sz="11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4893469" y="3213571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Persistência do estado em cada nó. Permite </a:t>
            </a:r>
            <a:r>
              <a:rPr kumimoji="0" lang="en-US" sz="885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resiliência, auditoria</a:t>
            </a:r>
            <a:r>
              <a:rPr kumimoji="0" lang="en-US" sz="94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e interações humanas (Human-in-the-loop).</a:t>
            </a: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1C9E7-7877-FD03-4E5E-13CA2341D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16388" name="Picture 4" descr="What is Demo Software? - Visitor Queue">
            <a:extLst>
              <a:ext uri="{FF2B5EF4-FFF2-40B4-BE49-F238E27FC236}">
                <a16:creationId xmlns:a16="http://schemas.microsoft.com/office/drawing/2014/main" id="{41B250DA-4620-FDEF-607B-6973BA331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82" y="1117978"/>
            <a:ext cx="4447104" cy="290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Conheça o filme que está por trás do famoso meme do diabo com a criança na  internet | Tribuna PR - Paraná Online">
            <a:extLst>
              <a:ext uri="{FF2B5EF4-FFF2-40B4-BE49-F238E27FC236}">
                <a16:creationId xmlns:a16="http://schemas.microsoft.com/office/drawing/2014/main" id="{1B8C74F3-AD45-BCCA-E492-B8F246593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213" y="1734271"/>
            <a:ext cx="3520919" cy="234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34E5B29-8E29-B30D-EB28-CEEB97888972}"/>
              </a:ext>
            </a:extLst>
          </p:cNvPr>
          <p:cNvSpPr txBox="1"/>
          <p:nvPr/>
        </p:nvSpPr>
        <p:spPr>
          <a:xfrm>
            <a:off x="4908160" y="834927"/>
            <a:ext cx="3641725" cy="706095"/>
          </a:xfrm>
          <a:prstGeom prst="rect">
            <a:avLst/>
          </a:prstGeom>
          <a:noFill/>
        </p:spPr>
        <p:txBody>
          <a:bodyPr wrap="square" lIns="134464" tIns="107571" rIns="134464" bIns="107571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41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765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917">
                      <a:prstClr val="black"/>
                    </a:gs>
                    <a:gs pos="3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Vai nessa, mostra pra eles, vai funcionar tudinho.....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1A6AF4B-DF4A-3025-3429-AB27D80F58A0}"/>
              </a:ext>
            </a:extLst>
          </p:cNvPr>
          <p:cNvSpPr txBox="1"/>
          <p:nvPr/>
        </p:nvSpPr>
        <p:spPr>
          <a:xfrm>
            <a:off x="1378487" y="4237641"/>
            <a:ext cx="4988604" cy="296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2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https://ai.azure.com/</a:t>
            </a:r>
            <a:endParaRPr kumimoji="0" lang="pt-BR" sz="132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2583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598289"/>
            <a:ext cx="285750" cy="285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625" y="1234083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FUNDAÇÃO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428625" y="1714500"/>
            <a:ext cx="25717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Iniciamos com agentes isolados e gestão de estado básica, estabelecendo a base para conversas persistentes.</a:t>
            </a:r>
            <a:endParaRPr lang="en-US" sz="9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5" y="598289"/>
            <a:ext cx="285750" cy="2857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286125" y="1234083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INTERAÇÃO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3286125" y="1714500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Evoluímos para o uso de ferramentas externas e colaboração entre múltiplos agentes especializados.</a:t>
            </a:r>
            <a:endParaRPr lang="en-US" sz="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25" y="598289"/>
            <a:ext cx="357188" cy="2857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143625" y="1234083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AUTOMAÇÃO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6143625" y="1714500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Alcançamos a orquestração avançada com grafos de trabalho e roteamento condicional inteligente.</a:t>
            </a:r>
            <a:endParaRPr lang="en-US" sz="950" dirty="0"/>
          </a:p>
        </p:txBody>
      </p:sp>
      <p:sp>
        <p:nvSpPr>
          <p:cNvPr id="12" name="Shape 6"/>
          <p:cNvSpPr/>
          <p:nvPr/>
        </p:nvSpPr>
        <p:spPr>
          <a:xfrm>
            <a:off x="0" y="3571875"/>
            <a:ext cx="4286250" cy="1571625"/>
          </a:xfrm>
          <a:prstGeom prst="rect">
            <a:avLst/>
          </a:prstGeom>
          <a:solidFill>
            <a:srgbClr val="001B4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3" name="Text 7"/>
          <p:cNvSpPr/>
          <p:nvPr/>
        </p:nvSpPr>
        <p:spPr>
          <a:xfrm>
            <a:off x="285750" y="4078551"/>
            <a:ext cx="2344936" cy="56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EVOLUÇÃO DA
ORQUESTRAÇÃO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42950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28625" y="1209080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Cria um </a:t>
            </a:r>
            <a:r>
              <a:rPr lang="en-US" sz="800" b="1" dirty="0">
                <a:solidFill>
                  <a:srgbClr val="001B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AIAgent</a:t>
            </a: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único configurado como escritor de posts para LinkedIn, utilizando o Azure OpenAI para geração de conteúdo criativo.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286125" y="742950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DESTAQUE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86125" y="1209080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Demonstra a </a:t>
            </a:r>
            <a:r>
              <a:rPr lang="en-US" sz="800" b="1" dirty="0">
                <a:solidFill>
                  <a:srgbClr val="001B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Serialização de Sessão</a:t>
            </a: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para JSON, permitindo que o estado da conversa seja salvo e retomado posteriormente em novos turnos.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143625" y="742950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CONCEITO CHAVE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43625" y="1209080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Foca na </a:t>
            </a:r>
            <a:r>
              <a:rPr lang="en-US" sz="800" b="1" dirty="0">
                <a:solidFill>
                  <a:srgbClr val="001B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Persistência de Contexto</a:t>
            </a: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garantindo que o agente mantenha a memória da conversa mesmo após o reinício do processo.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3571875"/>
            <a:ext cx="4286250" cy="1571625"/>
          </a:xfrm>
          <a:prstGeom prst="rect">
            <a:avLst/>
          </a:prstGeom>
          <a:solidFill>
            <a:srgbClr val="001B4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7"/>
          <p:cNvSpPr/>
          <p:nvPr/>
        </p:nvSpPr>
        <p:spPr>
          <a:xfrm>
            <a:off x="285750" y="4078551"/>
            <a:ext cx="2309217" cy="56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DEMO 1: GESTÃO
DE SESSÃO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42950"/>
            <a:ext cx="2571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WEB BROWSING TOOL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28625" y="1209080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E5E5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Implementação de uma ferramenta customizada que permite ao agente </a:t>
            </a:r>
            <a:r>
              <a:rPr lang="en-US" sz="8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navegar na web</a:t>
            </a:r>
            <a:r>
              <a:rPr lang="en-US" sz="850" dirty="0">
                <a:solidFill>
                  <a:srgbClr val="E5E5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extraindo conteúdo de URLs públicas de forma segura e eficiente.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286125" y="742950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AUTONOMIA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86125" y="1209080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E5E5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 agente decide autonomamente quando invocar a ferramenta durante a execução, baseando-se na necessidade de </a:t>
            </a:r>
            <a:r>
              <a:rPr lang="en-US" sz="8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dados externos</a:t>
            </a:r>
            <a:r>
              <a:rPr lang="en-US" sz="850" dirty="0">
                <a:solidFill>
                  <a:srgbClr val="E5E5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para cumprir a tarefa.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143625" y="742950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GROUNDED RESPONSE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43625" y="1209080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E5E5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As respostas são fundamentadas no conteúdo real da página, convertido de </a:t>
            </a:r>
            <a:r>
              <a:rPr lang="en-US" sz="8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HTML para Markdown</a:t>
            </a:r>
            <a:r>
              <a:rPr lang="en-US" sz="850" dirty="0">
                <a:solidFill>
                  <a:srgbClr val="E5E5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garantindo precisão e reduzindo alucinações.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3571875"/>
            <a:ext cx="4286250" cy="1571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7"/>
          <p:cNvSpPr/>
          <p:nvPr/>
        </p:nvSpPr>
        <p:spPr>
          <a:xfrm>
            <a:off x="285750" y="4078551"/>
            <a:ext cx="2811066" cy="56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800" b="1" dirty="0">
                <a:solidFill>
                  <a:srgbClr val="001B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DEMO 2: AGENTES
COM FERRAMENTAS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42950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PIPELINE SEQUENCIAL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28625" y="1209080"/>
            <a:ext cx="25717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Orquestra dois agentes independentes: um </a:t>
            </a:r>
            <a:r>
              <a:rPr lang="en-US" sz="800" b="1" dirty="0">
                <a:solidFill>
                  <a:srgbClr val="001B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Escritor</a:t>
            </a: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que gera o post inicial e um </a:t>
            </a:r>
            <a:r>
              <a:rPr lang="en-US" sz="800" b="1" dirty="0">
                <a:solidFill>
                  <a:srgbClr val="001B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Revisor</a:t>
            </a: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que analisa e sugere melhorias.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286125" y="742950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ESPECIALIZAÇÃO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86125" y="1209080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Cada agente possui </a:t>
            </a:r>
            <a:r>
              <a:rPr lang="en-US" sz="800" b="1" dirty="0">
                <a:solidFill>
                  <a:srgbClr val="001B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instruções de sistema focadas</a:t>
            </a: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garantindo que o revisor não tente escrever e o escritor não tente criticar a si mesmo.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143625" y="742950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ORQUESTRAÇÃO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43625" y="1209080"/>
            <a:ext cx="25717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Demonstra a transferência de contexto onde a </a:t>
            </a:r>
            <a:r>
              <a:rPr lang="en-US" sz="800" b="1" dirty="0">
                <a:solidFill>
                  <a:srgbClr val="001B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saída do Agente A</a:t>
            </a: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torna-se automaticamente a </a:t>
            </a:r>
            <a:r>
              <a:rPr lang="en-US" sz="800" b="1" dirty="0">
                <a:solidFill>
                  <a:srgbClr val="001B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entrada do Agente B</a:t>
            </a: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3571875"/>
            <a:ext cx="4286250" cy="1571625"/>
          </a:xfrm>
          <a:prstGeom prst="rect">
            <a:avLst/>
          </a:prstGeom>
          <a:solidFill>
            <a:srgbClr val="001B4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7"/>
          <p:cNvSpPr/>
          <p:nvPr/>
        </p:nvSpPr>
        <p:spPr>
          <a:xfrm>
            <a:off x="285750" y="4078551"/>
            <a:ext cx="3429000" cy="56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DEMO 3: COLABORAÇÃO
MULTI-AGENTE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42950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28625" y="1209080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E5E5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Implementa um </a:t>
            </a:r>
            <a:r>
              <a:rPr lang="en-US" sz="8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Loop de Feedback</a:t>
            </a:r>
            <a:r>
              <a:rPr lang="en-US" sz="850" dirty="0">
                <a:solidFill>
                  <a:srgbClr val="E5E5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manual entre dois agentes. O escritor gera o conteúdo e o revisor atua como um validador crítico.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286125" y="742950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DESTAQUE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86125" y="1209080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E5E5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 processo só termina quando o revisor aprova o post com uma classificação de excelência, criando um verdadeiro </a:t>
            </a:r>
            <a:r>
              <a:rPr lang="en-US" sz="8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Portão de Qualidade</a:t>
            </a:r>
            <a:r>
              <a:rPr lang="en-US" sz="850" dirty="0">
                <a:solidFill>
                  <a:srgbClr val="E5E5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286125" y="2197708"/>
            <a:ext cx="257175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5"/>
          <p:cNvSpPr/>
          <p:nvPr/>
        </p:nvSpPr>
        <p:spPr>
          <a:xfrm>
            <a:off x="3286125" y="2197708"/>
            <a:ext cx="28575" cy="685800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313794"/>
            <a:ext cx="100013" cy="1000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93294" y="2304864"/>
            <a:ext cx="35540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GOOD</a:t>
            </a:r>
            <a:endParaRPr lang="en-US" sz="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3281" y="2470956"/>
            <a:ext cx="112514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05795" y="2462026"/>
            <a:ext cx="6393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EXCELLENT</a:t>
            </a:r>
            <a:endParaRPr lang="en-US" sz="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3281" y="2628119"/>
            <a:ext cx="100013" cy="1000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493294" y="2619189"/>
            <a:ext cx="7822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A4E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NEEDS_WORK</a:t>
            </a:r>
            <a:endParaRPr lang="en-US" sz="700" dirty="0"/>
          </a:p>
        </p:txBody>
      </p:sp>
      <p:sp>
        <p:nvSpPr>
          <p:cNvPr id="15" name="Text 9"/>
          <p:cNvSpPr/>
          <p:nvPr/>
        </p:nvSpPr>
        <p:spPr>
          <a:xfrm>
            <a:off x="6143625" y="742950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CONCEITO CHAVE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143625" y="1209080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E5E5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Foca no </a:t>
            </a:r>
            <a:r>
              <a:rPr lang="en-US" sz="8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Refinamento Contínuo</a:t>
            </a:r>
            <a:r>
              <a:rPr lang="en-US" sz="850" dirty="0">
                <a:solidFill>
                  <a:srgbClr val="E5E5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 O escritor recebe o feedback específico e o post original para realizar ajustes dinâmicos e precisos.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0" y="3571875"/>
            <a:ext cx="4286250" cy="1571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8" name="Text 12"/>
          <p:cNvSpPr/>
          <p:nvPr/>
        </p:nvSpPr>
        <p:spPr>
          <a:xfrm>
            <a:off x="285750" y="4078551"/>
            <a:ext cx="3077170" cy="56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800" b="1" dirty="0">
                <a:solidFill>
                  <a:srgbClr val="001B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DEMO 4: LOOP DE
FEEDBACK ITERATIVO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42950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WORKFLOWBUILDER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28625" y="1209080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Declaração do fluxo de trabalho como um </a:t>
            </a:r>
            <a:r>
              <a:rPr lang="en-US" sz="800" b="1" dirty="0">
                <a:solidFill>
                  <a:srgbClr val="001B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Grafo Direcionado</a:t>
            </a: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robusto, onde cada nó representa um executor de agente especializado.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286125" y="742950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LÓGICA CONDICIONAL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86125" y="1209080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Uso de </a:t>
            </a:r>
            <a:r>
              <a:rPr lang="en-US" sz="800" b="1" dirty="0">
                <a:solidFill>
                  <a:srgbClr val="001B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Arestas Condicionais</a:t>
            </a: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para roteamento inteligente, permitindo loops de feedback automáticos baseados em resultados estruturados.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143625" y="742950"/>
            <a:ext cx="2571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4E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STREAMING E ESTADO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43625" y="1209080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Suporte nativo para </a:t>
            </a:r>
            <a:r>
              <a:rPr lang="en-US" sz="800" b="1" dirty="0">
                <a:solidFill>
                  <a:srgbClr val="001B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Saída em Tempo Real</a:t>
            </a:r>
            <a:r>
              <a:rPr lang="en-US" sz="850" dirty="0">
                <a:solidFill>
                  <a:srgbClr val="52525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e gerenciamento de estado complexo, garantindo visibilidade e controle total da execução.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3571875"/>
            <a:ext cx="4286250" cy="1571625"/>
          </a:xfrm>
          <a:prstGeom prst="rect">
            <a:avLst/>
          </a:prstGeom>
          <a:solidFill>
            <a:srgbClr val="001B4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7"/>
          <p:cNvSpPr/>
          <p:nvPr/>
        </p:nvSpPr>
        <p:spPr>
          <a:xfrm>
            <a:off x="285750" y="4078551"/>
            <a:ext cx="3159323" cy="56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DEMO 5: WORKFLOWS
COMO GRAFOS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48647-F038-6AA1-E9DE-ACF9AD8C5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E049F31E-0766-EAB6-36AD-5E20D30DA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7369CFF5-A4AF-C390-22BD-30AAF44E1401}"/>
              </a:ext>
            </a:extLst>
          </p:cNvPr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2492B8B-B1DE-F3B1-1CFD-CABBEFC19BEE}"/>
              </a:ext>
            </a:extLst>
          </p:cNvPr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9DEC1BD-69FE-AA17-C317-052DBB54E475}"/>
              </a:ext>
            </a:extLst>
          </p:cNvPr>
          <p:cNvSpPr/>
          <p:nvPr/>
        </p:nvSpPr>
        <p:spPr>
          <a:xfrm>
            <a:off x="571500" y="428625"/>
            <a:ext cx="7855099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36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Finalizando</a:t>
            </a: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: O MAF </a:t>
            </a:r>
            <a:r>
              <a:rPr kumimoji="0" lang="en-US" sz="2436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possui</a:t>
            </a: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 </a:t>
            </a:r>
            <a:r>
              <a:rPr kumimoji="0" lang="en-US" sz="2436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muitas</a:t>
            </a: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 </a:t>
            </a:r>
            <a:r>
              <a:rPr kumimoji="0" lang="en-US" sz="2436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outras</a:t>
            </a: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 </a:t>
            </a:r>
            <a:r>
              <a:rPr kumimoji="0" lang="en-US" sz="2436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coisas</a:t>
            </a: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 para </a:t>
            </a:r>
            <a:r>
              <a:rPr kumimoji="0" lang="en-US" sz="2436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estudar</a:t>
            </a:r>
            <a:endParaRPr kumimoji="0" lang="en-US" sz="243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A5226BD-43E7-F4FD-A8F6-26B24F38D6B8}"/>
              </a:ext>
            </a:extLst>
          </p:cNvPr>
          <p:cNvSpPr/>
          <p:nvPr/>
        </p:nvSpPr>
        <p:spPr>
          <a:xfrm>
            <a:off x="571500" y="1294805"/>
            <a:ext cx="3857625" cy="3584377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BD14406-6E27-E427-04F4-A5047E5DF887}"/>
              </a:ext>
            </a:extLst>
          </p:cNvPr>
          <p:cNvSpPr/>
          <p:nvPr/>
        </p:nvSpPr>
        <p:spPr>
          <a:xfrm>
            <a:off x="718626" y="1516073"/>
            <a:ext cx="3628942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7" b="1" i="0" u="none" strike="noStrike" kern="1200" cap="none" spc="0" normalizeH="0" baseline="0" noProof="0" dirty="0" err="1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Temos</a:t>
            </a:r>
            <a:r>
              <a:rPr kumimoji="0" lang="en-US" sz="139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 </a:t>
            </a:r>
            <a:r>
              <a:rPr kumimoji="0" lang="en-US" sz="1397" b="1" i="0" u="none" strike="noStrike" kern="1200" cap="none" spc="0" normalizeH="0" baseline="0" noProof="0" dirty="0" err="1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muitas</a:t>
            </a:r>
            <a:r>
              <a:rPr kumimoji="0" lang="en-US" sz="139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 </a:t>
            </a:r>
            <a:r>
              <a:rPr kumimoji="0" lang="en-US" sz="1397" b="1" i="0" u="none" strike="noStrike" kern="1200" cap="none" spc="0" normalizeH="0" baseline="0" noProof="0" dirty="0" err="1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outras</a:t>
            </a:r>
            <a:r>
              <a:rPr kumimoji="0" lang="en-US" sz="139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 </a:t>
            </a:r>
            <a:r>
              <a:rPr kumimoji="0" lang="en-US" sz="1397" b="1" i="0" u="none" strike="noStrike" kern="1200" cap="none" spc="0" normalizeH="0" baseline="0" noProof="0" dirty="0" err="1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funcionalidades</a:t>
            </a:r>
            <a:r>
              <a:rPr kumimoji="0" lang="en-US" sz="139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 </a:t>
            </a:r>
            <a:r>
              <a:rPr kumimoji="0" lang="en-US" sz="1397" b="1" i="0" u="none" strike="noStrike" kern="1200" cap="none" spc="0" normalizeH="0" baseline="0" noProof="0" dirty="0" err="1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+mn-cs"/>
              </a:rPr>
              <a:t>dispon</a:t>
            </a:r>
            <a:r>
              <a:rPr lang="en-US" sz="1397" b="1" dirty="0" err="1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</a:rPr>
              <a:t>íveis</a:t>
            </a:r>
            <a:endParaRPr kumimoji="0" lang="en-US" sz="13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68B0734-93A5-3F10-2AB9-DF37A01E81FE}"/>
              </a:ext>
            </a:extLst>
          </p:cNvPr>
          <p:cNvSpPr/>
          <p:nvPr/>
        </p:nvSpPr>
        <p:spPr>
          <a:xfrm>
            <a:off x="778074" y="2026739"/>
            <a:ext cx="3046809" cy="2516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Hosted 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</a:rPr>
              <a:t>Agentes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</a:rPr>
              <a:t>Declrarativos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 pitchFamily="34" charset="0"/>
              <a:ea typeface="Inter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+mn-cs"/>
              </a:rPr>
              <a:t>Skills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</a:rPr>
              <a:t>Code Act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+mn-cs"/>
              </a:rPr>
              <a:t>Observabilidade</a:t>
            </a:r>
            <a:endParaRPr lang="en-US" sz="1050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</a:rPr>
              <a:t>Functions Tools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+mn-cs"/>
              </a:rPr>
              <a:t>Function </a:t>
            </a:r>
            <a:r>
              <a:rPr lang="en-US" sz="105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+mn-cs"/>
              </a:rPr>
              <a:t>Approvaal</a:t>
            </a:r>
            <a:endParaRPr lang="en-US" sz="1050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</a:rPr>
              <a:t>Code Interpret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er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+mn-cs"/>
              </a:rPr>
              <a:t>File 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Search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Web Search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MCP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621CA174-BF51-1775-DB89-F4526344B20B}"/>
              </a:ext>
            </a:extLst>
          </p:cNvPr>
          <p:cNvSpPr/>
          <p:nvPr/>
        </p:nvSpPr>
        <p:spPr>
          <a:xfrm>
            <a:off x="4744910" y="1294805"/>
            <a:ext cx="3857625" cy="357008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2E63FCCE-EB40-14F2-B65B-093CA932726B}"/>
              </a:ext>
            </a:extLst>
          </p:cNvPr>
          <p:cNvSpPr/>
          <p:nvPr/>
        </p:nvSpPr>
        <p:spPr>
          <a:xfrm>
            <a:off x="5000625" y="1580555"/>
            <a:ext cx="1003480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REFERÊNCIAS</a:t>
            </a:r>
            <a:endParaRPr kumimoji="0" lang="en-US" sz="13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AE4384D-A663-5333-8112-284DED9111D0}"/>
              </a:ext>
            </a:extLst>
          </p:cNvPr>
          <p:cNvSpPr/>
          <p:nvPr/>
        </p:nvSpPr>
        <p:spPr>
          <a:xfrm>
            <a:off x="5000625" y="2089161"/>
            <a:ext cx="3028950" cy="208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Inserir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as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referencias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997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Futuro e a Comunidade Open Source</a:t>
            </a:r>
            <a:endParaRPr kumimoji="0" lang="en-US" sz="243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3857625" cy="3584377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57250" y="1580555"/>
            <a:ext cx="32861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COMPROMISSO ABERTO</a:t>
            </a:r>
            <a:endParaRPr kumimoji="0" lang="en-US" sz="13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007394"/>
            <a:ext cx="125016" cy="1857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6566" y="2007394"/>
            <a:ext cx="30468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 Microsoft Agent Framework é </a:t>
            </a: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totalmente Open Source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seguindo o legado de sucesso do Semantic Kernel e AutoGen.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864644"/>
            <a:ext cx="178594" cy="1857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0144" y="2864644"/>
            <a:ext cx="2993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Desenvolvido em colaboração direta com a comunidade global de desenvolvedores de IA.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721894"/>
            <a:ext cx="142875" cy="1857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4425" y="3721894"/>
            <a:ext cx="3028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Evolução contínua com atualizações frequentes e suporte a novos modelos de linguagem.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4714875" y="1294805"/>
            <a:ext cx="3857625" cy="357008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000625" y="1580555"/>
            <a:ext cx="32861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CAMINHO DE MIGRAÇÃO</a:t>
            </a:r>
            <a:endParaRPr kumimoji="0" lang="en-US" sz="13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2007394"/>
            <a:ext cx="142875" cy="1857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57800" y="2007394"/>
            <a:ext cx="3028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 Microsoft fornece </a:t>
            </a: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guias de migração detalhados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para quem já utiliza os frameworks anteriores.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3014663"/>
            <a:ext cx="89297" cy="1857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04222" y="3014663"/>
            <a:ext cx="3082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Semantic Kernel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: Mapeamento de Kernels e Plugins para Agentes e Tools.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3643313"/>
            <a:ext cx="89297" cy="18573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04222" y="3643313"/>
            <a:ext cx="3082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AutoGen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: Transição de AssistantAgents para o novo modelo unificado.</a:t>
            </a:r>
            <a:endParaRPr kumimoji="0" lang="en-US" sz="98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33FB0-29F6-6034-2EBC-B36EC6632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0CC5E9-ACB8-178A-0B6E-C238E4B83E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513CCD6-D9B0-141A-69F8-BBF73F30E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17C3930-6DD9-675C-2BA8-09CFEAFBB005}"/>
              </a:ext>
            </a:extLst>
          </p:cNvPr>
          <p:cNvSpPr txBox="1"/>
          <p:nvPr/>
        </p:nvSpPr>
        <p:spPr>
          <a:xfrm>
            <a:off x="703385" y="260252"/>
            <a:ext cx="4058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Obrigado</a:t>
            </a:r>
          </a:p>
        </p:txBody>
      </p:sp>
      <p:pic>
        <p:nvPicPr>
          <p:cNvPr id="1026" name="Picture 2" descr="Imagem do perfil">
            <a:extLst>
              <a:ext uri="{FF2B5EF4-FFF2-40B4-BE49-F238E27FC236}">
                <a16:creationId xmlns:a16="http://schemas.microsoft.com/office/drawing/2014/main" id="{55EDFAAF-30E6-A4A2-783E-202DFD69C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35" y="1190763"/>
            <a:ext cx="1630680" cy="163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BF69DA7-CA3E-B6FC-4150-309A81D4FE68}"/>
              </a:ext>
            </a:extLst>
          </p:cNvPr>
          <p:cNvSpPr/>
          <p:nvPr/>
        </p:nvSpPr>
        <p:spPr>
          <a:xfrm>
            <a:off x="853952" y="2992629"/>
            <a:ext cx="2699200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lvl="0">
              <a:lnSpc>
                <a:spcPts val="1900"/>
              </a:lnSpc>
              <a:defRPr/>
            </a:pPr>
            <a:r>
              <a:rPr lang="en-US" sz="139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</a:rPr>
              <a:t>www.linkedin.com/in/carlosmachel </a:t>
            </a:r>
            <a:endParaRPr kumimoji="0" lang="en-US" sz="13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6A2C083-8B8A-FB20-505F-DB92B8828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141" y="1190763"/>
            <a:ext cx="1630680" cy="1630680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D5B3E77F-96C4-10E5-174F-D2B86492189A}"/>
              </a:ext>
            </a:extLst>
          </p:cNvPr>
          <p:cNvSpPr/>
          <p:nvPr/>
        </p:nvSpPr>
        <p:spPr>
          <a:xfrm>
            <a:off x="4896141" y="2981805"/>
            <a:ext cx="2191754" cy="717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lvl="0">
              <a:lnSpc>
                <a:spcPts val="1900"/>
              </a:lnSpc>
              <a:defRPr/>
            </a:pPr>
            <a:r>
              <a:rPr lang="en-US" sz="139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</a:rPr>
              <a:t>www.linkedin.com/in/nizzola</a:t>
            </a:r>
          </a:p>
          <a:p>
            <a:pPr lvl="0">
              <a:lnSpc>
                <a:spcPts val="1900"/>
              </a:lnSpc>
              <a:defRPr/>
            </a:pPr>
            <a:r>
              <a:rPr lang="en-US" sz="139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</a:rPr>
              <a:t>linktree.com/</a:t>
            </a:r>
            <a:r>
              <a:rPr lang="en-US" sz="1397" b="1" dirty="0" err="1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</a:rPr>
              <a:t>nizzola</a:t>
            </a:r>
            <a:endParaRPr lang="en-US" sz="1397" b="1" dirty="0">
              <a:solidFill>
                <a:srgbClr val="00A3E0"/>
              </a:solidFill>
              <a:latin typeface="Space Grotesk" pitchFamily="34" charset="0"/>
              <a:ea typeface="Space Grotesk" pitchFamily="34" charset="-122"/>
            </a:endParaRPr>
          </a:p>
          <a:p>
            <a:pPr lvl="0">
              <a:lnSpc>
                <a:spcPts val="1900"/>
              </a:lnSpc>
              <a:defRPr/>
            </a:pPr>
            <a:endParaRPr kumimoji="0" lang="en-US" sz="13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319116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1788</Words>
  <Application>Microsoft Office PowerPoint</Application>
  <PresentationFormat>Apresentação na tela (16:9)</PresentationFormat>
  <Paragraphs>290</Paragraphs>
  <Slides>28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41" baseType="lpstr">
      <vt:lpstr>Aptos</vt:lpstr>
      <vt:lpstr>Aptos Display</vt:lpstr>
      <vt:lpstr>Arial</vt:lpstr>
      <vt:lpstr>Arial Black</vt:lpstr>
      <vt:lpstr>Calibri</vt:lpstr>
      <vt:lpstr>Inter</vt:lpstr>
      <vt:lpstr>Maven Pro Medium</vt:lpstr>
      <vt:lpstr>Maven Pro Regular</vt:lpstr>
      <vt:lpstr>Montserrat Black</vt:lpstr>
      <vt:lpstr>Montserrat Bold</vt:lpstr>
      <vt:lpstr>Montserrat Medium</vt:lpstr>
      <vt:lpstr>Space Grotesk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Marcio Nizzola</cp:lastModifiedBy>
  <cp:revision>6</cp:revision>
  <dcterms:created xsi:type="dcterms:W3CDTF">2026-05-20T00:58:14Z</dcterms:created>
  <dcterms:modified xsi:type="dcterms:W3CDTF">2026-05-21T01:02:56Z</dcterms:modified>
</cp:coreProperties>
</file>